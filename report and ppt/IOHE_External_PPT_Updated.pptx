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6" r:id="rId5"/>
    <p:sldId id="257" r:id="rId6"/>
    <p:sldId id="270" r:id="rId7"/>
    <p:sldId id="271" r:id="rId8"/>
    <p:sldId id="272" r:id="rId9"/>
    <p:sldId id="273" r:id="rId10"/>
    <p:sldId id="274" r:id="rId11"/>
    <p:sldId id="275" r:id="rId12"/>
    <p:sldId id="276" r:id="rId13"/>
    <p:sldId id="268" r:id="rId14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94660"/>
  </p:normalViewPr>
  <p:slideViewPr>
    <p:cSldViewPr snapToGrid="0">
      <p:cViewPr varScale="1">
        <p:scale>
          <a:sx n="78" d="100"/>
          <a:sy n="78" d="100"/>
        </p:scale>
        <p:origin x="1618" y="4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085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ABDAB-C98B-8381-716E-ED6AFCC9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5DBAD3A-3AA2-46EC-20DA-9E0B6F33B8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515D35-3D90-F670-DC7D-C7665C75F9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EA06BF-BD39-19A7-18DD-5FA6CE397CF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D46FA0-CB3D-2866-C22C-E512DA567D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694807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A0FF43-762A-5FB7-333B-4F9BE4C39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977874-EB8D-8A93-BEC1-4870779F9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C67288-6023-D893-5001-BBE861616E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75EC19-5CC5-3374-B848-A5100ED5FC4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AFCB48-4054-E34C-691E-D3B79FA74B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3118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F3E0E-5E50-035D-20E3-0C2237B13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C5DBC8-4BEF-4B35-9D99-32909A579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0B035A-8A63-1921-632B-C44A94A1C5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48189-1A22-BFE5-1A36-513C949B302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0C9E5A-0A3B-DD6C-410B-3E183E8489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6413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29F045-4E3A-B472-7809-13D4F4731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863C79-BE2C-B1F2-52F9-3B1AA5A22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06F002-3DBF-53B6-6200-FDEC8C118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ADCE30-93C7-2E81-3D93-772F1A80446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B0BC2-8B21-6179-88DD-BE664D0501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829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39F53-BC48-4820-B03A-6E11D027DD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60513F-0DB4-9E72-D749-78D7FDEDD6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4FFE95-BDC9-0AD4-937E-DCC7A4A4F0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9E8466-69E5-15D1-1A3C-18D0AA11515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5E1F7A-FB90-BF2F-38C8-ED6AD436F0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273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en-IN"/>
            </a:p>
          </p:txBody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4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HierRAG</a:t>
            </a:r>
            <a:endParaRPr lang="en-US" sz="2000" i="1" spc="-1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b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</a:b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Chaitanya Garg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2210990233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Bhavika Chopra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2210990221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Mr. Gurpreet Singh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F8FA44-C42E-D871-81E7-D78F44EBDC00}"/>
              </a:ext>
            </a:extLst>
          </p:cNvPr>
          <p:cNvSpPr txBox="1"/>
          <p:nvPr/>
        </p:nvSpPr>
        <p:spPr>
          <a:xfrm>
            <a:off x="277512" y="1366897"/>
            <a:ext cx="5824328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RAG?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 struggle with outdated or missing knowledge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(Retrieval-Augmented Generation) grounds LLM outputs using external documents retrieved at query time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Works?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comes in → chunks retrieved →   LLM generates answer using those chunks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State: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has advanced rapidly but evaluation remains incomplete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1877F04-34DC-D6C9-6D08-C929F80C8A8D}"/>
              </a:ext>
            </a:extLst>
          </p:cNvPr>
          <p:cNvGrpSpPr/>
          <p:nvPr/>
        </p:nvGrpSpPr>
        <p:grpSpPr>
          <a:xfrm>
            <a:off x="6373031" y="1366897"/>
            <a:ext cx="2493457" cy="3748848"/>
            <a:chOff x="6370743" y="1216102"/>
            <a:chExt cx="2133360" cy="4614553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DEF13EA8-9A4A-4379-D4A3-B6D051F31E58}"/>
                </a:ext>
              </a:extLst>
            </p:cNvPr>
            <p:cNvSpPr/>
            <p:nvPr/>
          </p:nvSpPr>
          <p:spPr>
            <a:xfrm>
              <a:off x="6370743" y="1216102"/>
              <a:ext cx="2133360" cy="76531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Query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E55C4BB-466E-FD45-DC27-CA1DBBEDD5BA}"/>
                </a:ext>
              </a:extLst>
            </p:cNvPr>
            <p:cNvSpPr/>
            <p:nvPr/>
          </p:nvSpPr>
          <p:spPr>
            <a:xfrm>
              <a:off x="6370743" y="2495132"/>
              <a:ext cx="2133360" cy="76531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Retrieve Chunks</a:t>
              </a:r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F3AE3C18-D34D-5B2B-68EF-BF0A6DAF9A3C}"/>
                </a:ext>
              </a:extLst>
            </p:cNvPr>
            <p:cNvSpPr/>
            <p:nvPr/>
          </p:nvSpPr>
          <p:spPr>
            <a:xfrm>
              <a:off x="6370743" y="3774162"/>
              <a:ext cx="2133360" cy="76531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LLM Processes</a:t>
              </a:r>
            </a:p>
          </p:txBody>
        </p:sp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A6F9603B-30EB-74E9-8C84-DC245F9C516F}"/>
                </a:ext>
              </a:extLst>
            </p:cNvPr>
            <p:cNvSpPr/>
            <p:nvPr/>
          </p:nvSpPr>
          <p:spPr>
            <a:xfrm>
              <a:off x="6370743" y="5065341"/>
              <a:ext cx="2133360" cy="765314"/>
            </a:xfrm>
            <a:prstGeom prst="round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Answer Generated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CA818C62-342A-F057-DB9C-211553966F96}"/>
                </a:ext>
              </a:extLst>
            </p:cNvPr>
            <p:cNvCxnSpPr>
              <a:cxnSpLocks/>
            </p:cNvCxnSpPr>
            <p:nvPr/>
          </p:nvCxnSpPr>
          <p:spPr>
            <a:xfrm>
              <a:off x="7437423" y="2107096"/>
              <a:ext cx="0" cy="29817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65A266D-268F-F689-03AD-82BB360E206A}"/>
                </a:ext>
              </a:extLst>
            </p:cNvPr>
            <p:cNvCxnSpPr>
              <a:cxnSpLocks/>
            </p:cNvCxnSpPr>
            <p:nvPr/>
          </p:nvCxnSpPr>
          <p:spPr>
            <a:xfrm>
              <a:off x="7416852" y="3352800"/>
              <a:ext cx="0" cy="29817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6B6537C-34A5-6581-28A0-D46C403551CE}"/>
                </a:ext>
              </a:extLst>
            </p:cNvPr>
            <p:cNvCxnSpPr>
              <a:cxnSpLocks/>
            </p:cNvCxnSpPr>
            <p:nvPr/>
          </p:nvCxnSpPr>
          <p:spPr>
            <a:xfrm>
              <a:off x="7397322" y="4658139"/>
              <a:ext cx="0" cy="298174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647F1-9E31-DA06-DEC7-D0AC560C54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6F7C5B64-806F-D445-D52F-5ADBD946C984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</a:t>
            </a:r>
            <a:r>
              <a:rPr lang="en" sz="32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4C1099A-3CCB-F2FB-672B-29F3BF157AB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285914-5EAC-5DAA-A06D-09B254B4B26A}"/>
              </a:ext>
            </a:extLst>
          </p:cNvPr>
          <p:cNvSpPr txBox="1"/>
          <p:nvPr/>
        </p:nvSpPr>
        <p:spPr>
          <a:xfrm>
            <a:off x="228600" y="1122218"/>
            <a:ext cx="859328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RAG systems are evaluated on retrieval relevance and answer quality.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no system checks if retrieved chunks actually mattered.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metrics only check if relevant content was present, not if it caused the answer.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Answer quality metrics like F1 penalize correct answers that are just phrased differently from the reference.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existing system simultaneously measures all three evaluation axes.</a:t>
            </a:r>
            <a:endParaRPr lang="en-IN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FCCA41A-903D-2DD4-BA92-A3875AA48E9F}"/>
              </a:ext>
            </a:extLst>
          </p:cNvPr>
          <p:cNvSpPr/>
          <p:nvPr/>
        </p:nvSpPr>
        <p:spPr>
          <a:xfrm>
            <a:off x="457201" y="3875810"/>
            <a:ext cx="2441863" cy="224677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Retrieval Relevance</a:t>
            </a:r>
          </a:p>
          <a:p>
            <a:pPr algn="ctr"/>
            <a:endParaRPr lang="en-IN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035CBD-FD66-3EBF-69BF-93EB5ED77F3C}"/>
              </a:ext>
            </a:extLst>
          </p:cNvPr>
          <p:cNvSpPr/>
          <p:nvPr/>
        </p:nvSpPr>
        <p:spPr>
          <a:xfrm>
            <a:off x="3304309" y="3875810"/>
            <a:ext cx="2441863" cy="224677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i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Answer Groundedness</a:t>
            </a:r>
          </a:p>
          <a:p>
            <a:pPr algn="ctr"/>
            <a:endParaRPr lang="en-IN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1975BC3-944E-4088-FE61-5783B4381B70}"/>
              </a:ext>
            </a:extLst>
          </p:cNvPr>
          <p:cNvSpPr/>
          <p:nvPr/>
        </p:nvSpPr>
        <p:spPr>
          <a:xfrm>
            <a:off x="6092538" y="3875810"/>
            <a:ext cx="2441863" cy="2246770"/>
          </a:xfrm>
          <a:prstGeom prst="rect">
            <a:avLst/>
          </a:prstGeom>
          <a:ln>
            <a:noFill/>
          </a:ln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📌 Chunk Influence</a:t>
            </a:r>
          </a:p>
        </p:txBody>
      </p:sp>
    </p:spTree>
    <p:extLst>
      <p:ext uri="{BB962C8B-B14F-4D97-AF65-F5344CB8AC3E}">
        <p14:creationId xmlns:p14="http://schemas.microsoft.com/office/powerpoint/2010/main" val="3834830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339605-653F-A084-5D22-AB99BCA74C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DCA9B0B-30F8-AECC-B0A4-3F5D26E7F0FB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900B16B-77F0-F9ED-B9E7-95BEB02E276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342F32-565F-708A-302F-D22EED7F3F18}"/>
              </a:ext>
            </a:extLst>
          </p:cNvPr>
          <p:cNvSpPr txBox="1"/>
          <p:nvPr/>
        </p:nvSpPr>
        <p:spPr>
          <a:xfrm>
            <a:off x="203200" y="1241778"/>
            <a:ext cx="8703733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 RAG systems each solve part of the problem but none address all three gaps simultaneously.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Dependency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like RAPTOR and DPR rely on vector databases for retrieval.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makes deployment expensive and complex in resource-constrained environments.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Groundedness Verification at Inference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Systems like RAGAS measure faithfulness after the fact as an evaluation step.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system checks groundedness during retrieval and self-corrects if it fails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Chunk Influence is Never Measured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check if relevant content was present.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Nobody measures if those chunks actually caused the answer produced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99968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E7E4A-9DDD-C91E-B1B3-8B39635BB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1E181A7-04C9-3EF4-59A1-5293109D2A39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HierRAG overview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FEC0A067-C148-41A9-63A3-69D8A25CF68A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094F47-0952-C5B9-E568-652B6AB886CA}"/>
              </a:ext>
            </a:extLst>
          </p:cNvPr>
          <p:cNvSpPr txBox="1"/>
          <p:nvPr/>
        </p:nvSpPr>
        <p:spPr>
          <a:xfrm>
            <a:off x="167148" y="1002891"/>
            <a:ext cx="84308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HierRAG is a vectorless hierarchical RAG system that simultaneously measures retrieval relevance, answer groundedness, and chunk influence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2AD7C87-6476-DC5B-1F00-49FD47C279DD}"/>
              </a:ext>
            </a:extLst>
          </p:cNvPr>
          <p:cNvSpPr/>
          <p:nvPr/>
        </p:nvSpPr>
        <p:spPr>
          <a:xfrm>
            <a:off x="324465" y="1907458"/>
            <a:ext cx="4011561" cy="2084439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Hierarchical Document Index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every document into a 3-level tree (Root → Sections → Chunks)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once, cached to disk zero extra LLM calls on reuse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Completely vectorless no embeddings at any stage</a:t>
            </a:r>
          </a:p>
          <a:p>
            <a:pPr algn="ctr"/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A7E4C0-90A1-949B-F089-C71D0E631976}"/>
              </a:ext>
            </a:extLst>
          </p:cNvPr>
          <p:cNvSpPr/>
          <p:nvPr/>
        </p:nvSpPr>
        <p:spPr>
          <a:xfrm>
            <a:off x="4586388" y="1907457"/>
            <a:ext cx="4011561" cy="2084439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Three-Tier Retrieval Pipeline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 navigates the document tree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section summaries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groundedness fails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automatically escalates to next tier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Tier 1 (best section) → Tier 2 (fallback section) → Tier 3 (full document)</a:t>
            </a:r>
          </a:p>
          <a:p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315774-5574-7352-2467-629A7C6FF6A2}"/>
              </a:ext>
            </a:extLst>
          </p:cNvPr>
          <p:cNvSpPr/>
          <p:nvPr/>
        </p:nvSpPr>
        <p:spPr>
          <a:xfrm>
            <a:off x="324465" y="4257368"/>
            <a:ext cx="4011561" cy="2192593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Groundedness Scorer</a:t>
            </a:r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auditor LLM verifies every generated answer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Separates generator and verifier to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 self-confirmation bias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score &lt; 0.5 → triggers retrieval escalation back to Module 2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8950446-CA0B-F38A-C82E-4D7935BBE3A4}"/>
              </a:ext>
            </a:extLst>
          </p:cNvPr>
          <p:cNvSpPr/>
          <p:nvPr/>
        </p:nvSpPr>
        <p:spPr>
          <a:xfrm>
            <a:off x="4586388" y="4257368"/>
            <a:ext cx="4011561" cy="2192593"/>
          </a:xfrm>
          <a:prstGeom prst="rect">
            <a:avLst/>
          </a:prstGeom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Tester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Leave-one-out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testing measures each chunk's causal influence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chunks that were retrieved but changed nothing in the answer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788996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8B96A-88D6-7FFA-3DF6-96B3FA9EB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3C2709A-A7A3-6400-777C-A2ADE9CF0741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Setup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699522C3-FF82-BAB4-B34C-BA0F6C5A1B2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D6BFBF-F49E-8BC3-3ED5-492CB19121C2}"/>
              </a:ext>
            </a:extLst>
          </p:cNvPr>
          <p:cNvSpPr txBox="1"/>
          <p:nvPr/>
        </p:nvSpPr>
        <p:spPr>
          <a:xfrm>
            <a:off x="178904" y="974036"/>
            <a:ext cx="7961244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QASPER benchmark — scientific QA dataset from NLP research papers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209 total question-answer pairs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answers are 1-5 words written by human annotators</a:t>
            </a:r>
          </a:p>
          <a:p>
            <a:endParaRPr lang="en-US" dirty="0"/>
          </a:p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Used: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generation, navigation and verification calls use Gemini 3.1 Flash-Lite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Temperature set to 0.0 for full determinism and reproducibility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5.2 Gemini calls made per question-answer pair</a:t>
            </a:r>
          </a:p>
          <a:p>
            <a:endParaRPr lang="en-US" dirty="0"/>
          </a:p>
          <a:p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Evaluation Metrics:</a:t>
            </a: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F1 - surface level answer correctness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Groundedness Score - faithfulness of answer to retrieved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Sensitivity Score - whether retrieved chunks influenced the answer</a:t>
            </a:r>
          </a:p>
        </p:txBody>
      </p:sp>
    </p:spTree>
    <p:extLst>
      <p:ext uri="{BB962C8B-B14F-4D97-AF65-F5344CB8AC3E}">
        <p14:creationId xmlns:p14="http://schemas.microsoft.com/office/powerpoint/2010/main" val="23897134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77A6E1-2FBB-010A-E7B3-0A6E97AF8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F8E63EB-C1A3-D208-C2A9-7225B25989EC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6BECE9B-AA71-2EFB-6012-39ED445EEBD7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 dirty="0">
              <a:latin typeface="Times New Roman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A9B1919-7611-0BA0-87CF-F2C4E83498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8744668"/>
              </p:ext>
            </p:extLst>
          </p:nvPr>
        </p:nvGraphicFramePr>
        <p:xfrm>
          <a:off x="304800" y="1394460"/>
          <a:ext cx="8229600" cy="182880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3266650967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808735549"/>
                    </a:ext>
                  </a:extLst>
                </a:gridCol>
              </a:tblGrid>
              <a:tr h="14843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58367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Overall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710535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Answerable Questions 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6051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Groundedness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80188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Sensitivity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7583742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37F8A4C-9484-AEC5-2440-C6A562248E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1843756"/>
              </p:ext>
            </p:extLst>
          </p:nvPr>
        </p:nvGraphicFramePr>
        <p:xfrm>
          <a:off x="304800" y="4058370"/>
          <a:ext cx="8229600" cy="1463040"/>
        </p:xfrm>
        <a:graphic>
          <a:graphicData uri="http://schemas.openxmlformats.org/drawingml/2006/table">
            <a:tbl>
              <a:tblPr firstRow="1">
                <a:tableStyleId>{073A0DAA-6AF3-43AB-8588-CEC1D06C72B9}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474461919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4428871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3276238218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78937935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Groundedness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18904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Primary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 (74.6%)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4338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Fallback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(6.2%)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262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Flat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40 (19.1%)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0.053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0246588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B3A37FAE-5260-EE69-A24E-A87DA7EC5C60}"/>
              </a:ext>
            </a:extLst>
          </p:cNvPr>
          <p:cNvSpPr txBox="1"/>
          <p:nvPr/>
        </p:nvSpPr>
        <p:spPr>
          <a:xfrm>
            <a:off x="209550" y="975360"/>
            <a:ext cx="7962900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Performance: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631A518-6190-0FA3-8F1D-B2EE54C46CDA}"/>
              </a:ext>
            </a:extLst>
          </p:cNvPr>
          <p:cNvSpPr txBox="1"/>
          <p:nvPr/>
        </p:nvSpPr>
        <p:spPr>
          <a:xfrm>
            <a:off x="304800" y="3642360"/>
            <a:ext cx="45910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by Retrieval Tier:</a:t>
            </a:r>
          </a:p>
        </p:txBody>
      </p:sp>
    </p:spTree>
    <p:extLst>
      <p:ext uri="{BB962C8B-B14F-4D97-AF65-F5344CB8AC3E}">
        <p14:creationId xmlns:p14="http://schemas.microsoft.com/office/powerpoint/2010/main" val="3433720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5ABCA1-C5D6-6D21-291E-14429FCEB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11992A6-5801-6A5F-7932-30C9CC175964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21B074E5-5C8C-0918-40A9-EF981E109C36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1E9F97-2B81-7221-E751-0D93EE75DCB3}"/>
              </a:ext>
            </a:extLst>
          </p:cNvPr>
          <p:cNvSpPr txBox="1"/>
          <p:nvPr/>
        </p:nvSpPr>
        <p:spPr>
          <a:xfrm>
            <a:off x="171450" y="1104900"/>
            <a:ext cx="8877300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Retrieval Relevance ≠ Chunk Influence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29.7% of questions had at least one retrieved chunk with zero influence on the final answer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chunk can be retrieved as relevant and still change nothing in the 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12.9% of QASPER is Structurally Unanswerable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 questions have ground truth answers locked inside tables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questions are impossible for any text-based RAG system — not just HierRAG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 F1 Underestimates Answer Quality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35% of answers with groundedness ≥ 0.8 still scored F1 &lt; 0.2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Groundedness is a better proxy for correctness than token F1 for generative RAG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 Tier Recovers at Near-Primary Quality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Fallback tier F1: 0.398 vs Primary tier F1: 0.409 — only 0.011 difference</a:t>
            </a:r>
          </a:p>
          <a:p>
            <a:pPr marL="857250" lvl="1" indent="-400050">
              <a:buFont typeface="+mj-lt"/>
              <a:buAutoNum type="romanLcPeriod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questions recovered perfectly: F1 went from 0.000 → 1.000</a:t>
            </a:r>
          </a:p>
        </p:txBody>
      </p:sp>
    </p:spTree>
    <p:extLst>
      <p:ext uri="{BB962C8B-B14F-4D97-AF65-F5344CB8AC3E}">
        <p14:creationId xmlns:p14="http://schemas.microsoft.com/office/powerpoint/2010/main" val="2701788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57632-33D1-F618-6AF3-93A3088BA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89CA851-317B-F5FB-9C0D-EB58B26525D5}"/>
              </a:ext>
            </a:extLst>
          </p:cNvPr>
          <p:cNvSpPr txBox="1"/>
          <p:nvPr/>
        </p:nvSpPr>
        <p:spPr>
          <a:xfrm>
            <a:off x="457200" y="0"/>
            <a:ext cx="6019560" cy="837720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Future Work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C2FF37D4-41F4-8BEB-9933-F5A0AB904D9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 dirty="0">
              <a:latin typeface="Times New Roma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F176481-E857-1E09-1288-611CDA847331}"/>
              </a:ext>
            </a:extLst>
          </p:cNvPr>
          <p:cNvSpPr txBox="1"/>
          <p:nvPr/>
        </p:nvSpPr>
        <p:spPr>
          <a:xfrm>
            <a:off x="147637" y="1028343"/>
            <a:ext cx="8848725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Evaluation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token F1 with BERTScore or other semantic similarity metrics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Smarter Retrieval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chunk deduplication to eliminate redundant retrievals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Larger Model Testing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HierRAG with larger models for fair model-controlled comparison with RAPTOR + GPT-4</a:t>
            </a:r>
          </a:p>
        </p:txBody>
      </p:sp>
    </p:spTree>
    <p:extLst>
      <p:ext uri="{BB962C8B-B14F-4D97-AF65-F5344CB8AC3E}">
        <p14:creationId xmlns:p14="http://schemas.microsoft.com/office/powerpoint/2010/main" val="1878549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34810</TotalTime>
  <Words>845</Words>
  <Application>Microsoft Office PowerPoint</Application>
  <PresentationFormat>On-screen Show (4:3)</PresentationFormat>
  <Paragraphs>165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Chaitanya Garg</cp:lastModifiedBy>
  <cp:revision>2302</cp:revision>
  <dcterms:created xsi:type="dcterms:W3CDTF">2010-04-09T07:36:15Z</dcterms:created>
  <dcterms:modified xsi:type="dcterms:W3CDTF">2026-05-14T08:12:57Z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